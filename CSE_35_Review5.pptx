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69" r:id="rId3"/>
    <p:sldId id="257" r:id="rId4"/>
    <p:sldId id="274" r:id="rId5"/>
    <p:sldId id="275" r:id="rId6"/>
    <p:sldId id="273" r:id="rId7"/>
    <p:sldId id="276" r:id="rId8"/>
    <p:sldId id="268" r:id="rId9"/>
    <p:sldId id="272" r:id="rId10"/>
    <p:sldId id="271" r:id="rId11"/>
    <p:sldId id="270" r:id="rId12"/>
    <p:sldId id="265" r:id="rId13"/>
    <p:sldId id="277" r:id="rId14"/>
    <p:sldId id="266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rgavi K" userId="5bf9507683c4b3b1" providerId="LiveId" clId="{878BEE62-2C82-4F6C-AAE6-0121D2F6B325}"/>
    <pc:docChg chg="undo custSel addSld delSld modSld">
      <pc:chgData name="Bhargavi K" userId="5bf9507683c4b3b1" providerId="LiveId" clId="{878BEE62-2C82-4F6C-AAE6-0121D2F6B325}" dt="2026-04-14T09:31:00.942" v="638" actId="20577"/>
      <pc:docMkLst>
        <pc:docMk/>
      </pc:docMkLst>
      <pc:sldChg chg="modSp mod">
        <pc:chgData name="Bhargavi K" userId="5bf9507683c4b3b1" providerId="LiveId" clId="{878BEE62-2C82-4F6C-AAE6-0121D2F6B325}" dt="2026-04-14T09:31:00.942" v="638" actId="20577"/>
        <pc:sldMkLst>
          <pc:docMk/>
          <pc:sldMk cId="0" sldId="256"/>
        </pc:sldMkLst>
        <pc:spChg chg="mod">
          <ac:chgData name="Bhargavi K" userId="5bf9507683c4b3b1" providerId="LiveId" clId="{878BEE62-2C82-4F6C-AAE6-0121D2F6B325}" dt="2026-04-14T09:30:49.120" v="636" actId="20577"/>
          <ac:spMkLst>
            <pc:docMk/>
            <pc:sldMk cId="0" sldId="256"/>
            <ac:spMk id="8" creationId="{00000000-0000-0000-0000-000000000000}"/>
          </ac:spMkLst>
        </pc:spChg>
        <pc:spChg chg="mod">
          <ac:chgData name="Bhargavi K" userId="5bf9507683c4b3b1" providerId="LiveId" clId="{878BEE62-2C82-4F6C-AAE6-0121D2F6B325}" dt="2026-04-14T09:31:00.942" v="638" actId="20577"/>
          <ac:spMkLst>
            <pc:docMk/>
            <pc:sldMk cId="0" sldId="256"/>
            <ac:spMk id="90" creationId="{00000000-0000-0000-0000-000000000000}"/>
          </ac:spMkLst>
        </pc:spChg>
        <pc:spChg chg="mod">
          <ac:chgData name="Bhargavi K" userId="5bf9507683c4b3b1" providerId="LiveId" clId="{878BEE62-2C82-4F6C-AAE6-0121D2F6B325}" dt="2026-04-14T06:24:12.597" v="513" actId="20577"/>
          <ac:spMkLst>
            <pc:docMk/>
            <pc:sldMk cId="0" sldId="256"/>
            <ac:spMk id="9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939560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42109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SMART CLASSROOM AND TIME TABLE SCHEDULER 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639098" y="2045352"/>
            <a:ext cx="4542502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 : CSE_35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lang="en-GB"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just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sym typeface="Verdana"/>
              </a:rPr>
              <a:t>Ms. Shaik Salma Begum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just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just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just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1322838969"/>
              </p:ext>
            </p:extLst>
          </p:nvPr>
        </p:nvGraphicFramePr>
        <p:xfrm>
          <a:off x="553347" y="2721840"/>
          <a:ext cx="5418675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u="none" strike="noStrike" cap="none" dirty="0"/>
                        <a:t>20221CSE0517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 err="1"/>
                        <a:t>Bhargavi</a:t>
                      </a:r>
                      <a:r>
                        <a:rPr lang="en-US" sz="1800" u="none" strike="noStrike" cap="none" baseline="0" dirty="0"/>
                        <a:t> K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20221CSE0516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Bhargavi N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20221CSE0452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 err="1"/>
                        <a:t>Rahul</a:t>
                      </a:r>
                      <a:r>
                        <a:rPr lang="en-US" sz="1800" u="none" strike="noStrike" cap="none" baseline="0" dirty="0"/>
                        <a:t> K M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CSE7101-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</a:t>
            </a: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University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Review-5</a:t>
            </a: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endParaRPr lang="en-GB" sz="1800" b="1" i="0" u="none" strike="noStrike" cap="none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B.Tech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Asif Mohamed H B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US" sz="1800" b="1" i="0" u="none" strike="noStrike" cap="none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1800" b="1" i="0" u="none" strike="noStrike" cap="none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Jayavadivel</a:t>
            </a:r>
            <a:r>
              <a:rPr lang="en-US" sz="1800" b="1" i="0" u="none" strike="noStrike" cap="none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Ravi</a:t>
            </a:r>
            <a:endParaRPr lang="en-US" sz="18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Sampath A K 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.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SIH25028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953729"/>
            <a:ext cx="10543458" cy="5456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9050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800" b="1" dirty="0">
                <a:latin typeface="Calibra"/>
                <a:ea typeface="Cambria" panose="02040503050406030204" pitchFamily="18" charset="0"/>
              </a:rPr>
              <a:t>Organization:</a:t>
            </a:r>
            <a:r>
              <a:rPr lang="en-US" sz="1800" dirty="0">
                <a:latin typeface="Calibra"/>
                <a:ea typeface="Cambria" panose="02040503050406030204" pitchFamily="18" charset="0"/>
              </a:rPr>
              <a:t> </a:t>
            </a:r>
            <a:r>
              <a:rPr lang="en-US" sz="1800" dirty="0">
                <a:latin typeface="Calibra"/>
              </a:rPr>
              <a:t>Government of Jharkhand (SIH 2025 Official Problem Statements) .</a:t>
            </a:r>
            <a:endParaRPr lang="en-US" sz="1800" dirty="0">
              <a:latin typeface="Calibra"/>
              <a:ea typeface="Cambria" panose="02040503050406030204" pitchFamily="18" charset="0"/>
            </a:endParaRPr>
          </a:p>
          <a:p>
            <a:pPr marL="342900" lvl="0" indent="-19050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800" b="1" dirty="0">
                <a:latin typeface="Calibra"/>
                <a:ea typeface="Cambria" panose="02040503050406030204" pitchFamily="18" charset="0"/>
              </a:rPr>
              <a:t>Category (Hardware / Software / Both) : </a:t>
            </a:r>
            <a:r>
              <a:rPr lang="en-US" sz="1800" dirty="0">
                <a:latin typeface="Calibra"/>
                <a:ea typeface="Cambria" panose="02040503050406030204" pitchFamily="18" charset="0"/>
              </a:rPr>
              <a:t>Software</a:t>
            </a:r>
          </a:p>
          <a:p>
            <a:pPr marL="342900" lvl="0" indent="-19050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800" b="1" dirty="0">
                <a:latin typeface="Calibra"/>
                <a:ea typeface="Cambria" panose="02040503050406030204" pitchFamily="18" charset="0"/>
              </a:rPr>
              <a:t>Problem Description</a:t>
            </a:r>
            <a:r>
              <a:rPr lang="en-US" sz="1800" dirty="0">
                <a:latin typeface="Calibra"/>
                <a:ea typeface="Cambria" panose="02040503050406030204" pitchFamily="18" charset="0"/>
              </a:rPr>
              <a:t>:</a:t>
            </a:r>
          </a:p>
          <a:p>
            <a:pPr marL="438150" indent="-28575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1800" dirty="0">
                <a:latin typeface="Calibra"/>
              </a:rPr>
              <a:t>The problem focuses on creating a </a:t>
            </a:r>
            <a:r>
              <a:rPr lang="en-US" sz="1800" b="1" dirty="0">
                <a:latin typeface="Calibra"/>
              </a:rPr>
              <a:t>Smart Classroom &amp; Timetable Scheduler</a:t>
            </a:r>
            <a:r>
              <a:rPr lang="en-US" sz="1800" dirty="0">
                <a:latin typeface="Calibra"/>
              </a:rPr>
              <a:t> for educational institutions.</a:t>
            </a:r>
            <a:br>
              <a:rPr lang="en-US" sz="1800" dirty="0">
                <a:latin typeface="Calibra"/>
              </a:rPr>
            </a:br>
            <a:r>
              <a:rPr lang="en-US" sz="1800" dirty="0">
                <a:latin typeface="Calibra"/>
              </a:rPr>
              <a:t>Currently prepared timetables leading to </a:t>
            </a:r>
            <a:r>
              <a:rPr lang="en-US" sz="1800" b="1" dirty="0">
                <a:latin typeface="Calibra"/>
              </a:rPr>
              <a:t>class conflicts, Difficult Subjects are not placed during attention hours, uneven faculty workload, and underutilized classrooms</a:t>
            </a:r>
            <a:r>
              <a:rPr lang="en-US" sz="1800" dirty="0">
                <a:latin typeface="Calibra"/>
              </a:rPr>
              <a:t>.</a:t>
            </a:r>
          </a:p>
          <a:p>
            <a:pPr marL="438150" indent="-28575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1800" dirty="0">
                <a:latin typeface="Calibra"/>
              </a:rPr>
              <a:t>The system should automatically generate </a:t>
            </a:r>
            <a:r>
              <a:rPr lang="en-US" sz="1800" b="1" dirty="0">
                <a:latin typeface="Calibra"/>
              </a:rPr>
              <a:t>optimized, Attention-aware and  clash-free schedules</a:t>
            </a:r>
            <a:r>
              <a:rPr lang="en-US" sz="1800" dirty="0">
                <a:latin typeface="Calibra"/>
              </a:rPr>
              <a:t> based on faculty availability, room capacity, and student batches.</a:t>
            </a:r>
          </a:p>
          <a:p>
            <a:pPr marL="438150" indent="-28575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1800" dirty="0">
                <a:latin typeface="Calibra"/>
              </a:rPr>
              <a:t>It should handle </a:t>
            </a:r>
            <a:r>
              <a:rPr lang="en-US" sz="1800" b="1" dirty="0">
                <a:latin typeface="Calibra"/>
              </a:rPr>
              <a:t>dynamic constraints</a:t>
            </a:r>
            <a:r>
              <a:rPr lang="en-US" sz="1800" dirty="0">
                <a:latin typeface="Calibra"/>
              </a:rPr>
              <a:t> like elective combinations and sudden unavailability of staff or classrooms.</a:t>
            </a:r>
          </a:p>
          <a:p>
            <a:pPr marL="438150" indent="-28575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1800" dirty="0">
                <a:latin typeface="Calibra"/>
              </a:rPr>
              <a:t>The solution must improve </a:t>
            </a:r>
            <a:r>
              <a:rPr lang="en-US" sz="1800" b="1" dirty="0">
                <a:latin typeface="Calibra"/>
              </a:rPr>
              <a:t>resource utilization</a:t>
            </a:r>
            <a:r>
              <a:rPr lang="en-US" sz="1800" dirty="0">
                <a:latin typeface="Calibra"/>
              </a:rPr>
              <a:t> and reduce administrative effort.</a:t>
            </a:r>
            <a:br>
              <a:rPr lang="en-US" sz="1800" dirty="0">
                <a:latin typeface="Calibra"/>
              </a:rPr>
            </a:br>
            <a:r>
              <a:rPr lang="en-US" sz="1800" dirty="0">
                <a:latin typeface="Calibra"/>
              </a:rPr>
              <a:t>An </a:t>
            </a:r>
            <a:r>
              <a:rPr lang="en-US" sz="1800" b="1" dirty="0">
                <a:latin typeface="Calibra"/>
              </a:rPr>
              <a:t>intelligent, Attention-aware and faculty workload- balance scheduling system</a:t>
            </a:r>
            <a:r>
              <a:rPr lang="en-US" sz="1800" dirty="0">
                <a:latin typeface="Calibra"/>
              </a:rPr>
              <a:t> will ensure fairness for teachers and smooth academic operations.</a:t>
            </a:r>
            <a:endParaRPr lang="en-US" sz="1800" dirty="0">
              <a:latin typeface="Calibra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466273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Background and Related work for title Selection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Innovation or Novel Contributions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Git-hub Link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 (continuation)..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179871"/>
            <a:ext cx="106680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76200" indent="0">
              <a:buNone/>
            </a:pPr>
            <a:r>
              <a:rPr lang="en-US" b="1" dirty="0">
                <a:latin typeface="Calibra"/>
                <a:ea typeface="Cambria" panose="02040503050406030204" pitchFamily="18" charset="0"/>
              </a:rPr>
              <a:t>Problem Statement</a:t>
            </a:r>
            <a:r>
              <a:rPr lang="en-US" dirty="0">
                <a:latin typeface="Calibra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2000" dirty="0">
                <a:latin typeface="Calibra"/>
                <a:ea typeface="Calibri" panose="020F0502020204030204" pitchFamily="34" charset="0"/>
                <a:cs typeface="Calibri" panose="020F0502020204030204" pitchFamily="34" charset="0"/>
              </a:rPr>
              <a:t>Many educational institutions face persistent challenges in classroom allocation and timetable management due to increasing student strength, limited infrastructure, and complex academic requirements.</a:t>
            </a:r>
            <a:br>
              <a:rPr lang="en-US" sz="2000" dirty="0">
                <a:latin typeface="Calibra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latin typeface="Calibra"/>
                <a:ea typeface="Calibri" panose="020F0502020204030204" pitchFamily="34" charset="0"/>
                <a:cs typeface="Calibri" panose="020F0502020204030204" pitchFamily="34" charset="0"/>
              </a:rPr>
              <a:t>The lack of an automated and intelligent scheduling mechanism leads to timetable clashes, inefficient classroom utilization, unbalanced faculty workload, attention hours are ignored/given to easy subjects and excessive manual effort.</a:t>
            </a:r>
            <a:br>
              <a:rPr lang="en-US" sz="2000" dirty="0">
                <a:latin typeface="Calibra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latin typeface="Calibra"/>
                <a:ea typeface="Calibri" panose="020F0502020204030204" pitchFamily="34" charset="0"/>
                <a:cs typeface="Calibri" panose="020F0502020204030204" pitchFamily="34" charset="0"/>
              </a:rPr>
              <a:t>This results in academic disruptions, faculty overload, and reduced overall efficiency in institutional operations.</a:t>
            </a:r>
          </a:p>
          <a:p>
            <a:pPr marL="76200" indent="0">
              <a:buNone/>
            </a:pPr>
            <a:endParaRPr lang="en-US" sz="2000" dirty="0">
              <a:latin typeface="Calibra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6200" indent="0">
              <a:buNone/>
            </a:pPr>
            <a:r>
              <a:rPr lang="en-US" sz="2200" b="1" dirty="0">
                <a:latin typeface="Calibra"/>
              </a:rPr>
              <a:t>Key Gap</a:t>
            </a:r>
            <a:r>
              <a:rPr lang="en-US" sz="2000" dirty="0">
                <a:latin typeface="Calibra"/>
              </a:rPr>
              <a:t>: Most institutions rely on manual scheduling or basic tools that lack data-driven optimization and conflict resolution capabilities.</a:t>
            </a:r>
          </a:p>
          <a:p>
            <a:pPr marL="76200" indent="0">
              <a:buNone/>
            </a:pPr>
            <a:endParaRPr lang="en-IN" sz="2000" dirty="0">
              <a:latin typeface="Calibra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6200" indent="0">
              <a:buNone/>
            </a:pPr>
            <a:r>
              <a:rPr lang="en-IN" b="1" dirty="0">
                <a:latin typeface="Calibra"/>
                <a:ea typeface="Calibri" panose="020F0502020204030204" pitchFamily="34" charset="0"/>
                <a:cs typeface="Calibri" panose="020F0502020204030204" pitchFamily="34" charset="0"/>
              </a:rPr>
              <a:t>Objectives</a:t>
            </a:r>
            <a:endParaRPr lang="en-IN" dirty="0">
              <a:latin typeface="Calibra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200" dirty="0">
                <a:solidFill>
                  <a:schemeClr val="tx1"/>
                </a:solidFill>
                <a:latin typeface="Calibra"/>
              </a:rPr>
              <a:t>To collect and organize academic data related to classrooms, faculty, courses, and time slots.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200" dirty="0">
                <a:solidFill>
                  <a:schemeClr val="tx1"/>
                </a:solidFill>
                <a:latin typeface="Calibra"/>
              </a:rPr>
              <a:t>To categorize scheduling requirements </a:t>
            </a:r>
            <a:r>
              <a:rPr lang="en-US" altLang="en-US" sz="2200" b="1" dirty="0">
                <a:solidFill>
                  <a:schemeClr val="tx1"/>
                </a:solidFill>
                <a:latin typeface="Calibra"/>
              </a:rPr>
              <a:t>department-wise, faculty-wise, classroom-wise, and time-slot wise</a:t>
            </a:r>
            <a:r>
              <a:rPr lang="en-US" altLang="en-US" sz="2200" dirty="0">
                <a:solidFill>
                  <a:schemeClr val="tx1"/>
                </a:solidFill>
                <a:latin typeface="Calibra"/>
              </a:rPr>
              <a:t>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200" dirty="0">
                <a:solidFill>
                  <a:schemeClr val="tx1"/>
                </a:solidFill>
                <a:latin typeface="Calibra"/>
              </a:rPr>
              <a:t>To develop an automated and intelligent Attention-aware and Faculty Workload-Balanced  timetable generation system.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200" dirty="0">
                <a:solidFill>
                  <a:schemeClr val="tx1"/>
                </a:solidFill>
                <a:latin typeface="Calibra"/>
              </a:rPr>
              <a:t>To optimize classroom utilization, focusing on attention hours, reduce faculty overload and avoid scheduling conflicts.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200" dirty="0">
                <a:solidFill>
                  <a:schemeClr val="tx1"/>
                </a:solidFill>
                <a:latin typeface="Calibra"/>
              </a:rPr>
              <a:t>To support academic administrators with efficient and flexible scheduling decisions</a:t>
            </a:r>
            <a:r>
              <a:rPr lang="en-US" altLang="en-US" dirty="0">
                <a:solidFill>
                  <a:schemeClr val="tx1"/>
                </a:solidFill>
                <a:latin typeface="Calibra"/>
              </a:rPr>
              <a:t>.</a:t>
            </a:r>
          </a:p>
          <a:p>
            <a:pPr lvl="0"/>
            <a:endParaRPr lang="en-IN" dirty="0">
              <a:latin typeface="Calibra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6200" indent="0">
              <a:buNone/>
            </a:pPr>
            <a:endParaRPr lang="en-IN" sz="2000" dirty="0">
              <a:latin typeface="Calibra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6200" indent="0">
              <a:buNone/>
            </a:pPr>
            <a:endParaRPr lang="en-IN" sz="2000" dirty="0">
              <a:latin typeface="Calibra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5240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dirty="0">
              <a:latin typeface="Calibra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libra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libra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7979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B6E6E-CDDF-2B54-BA53-B9FAFC1BF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Background and Related 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34D697-9E6D-B561-92EE-8D46FD0FFA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L="76200" indent="0">
              <a:buNone/>
            </a:pPr>
            <a:r>
              <a:rPr lang="en-US" b="1" dirty="0">
                <a:latin typeface="Calibra"/>
              </a:rPr>
              <a:t>Background:</a:t>
            </a:r>
            <a:br>
              <a:rPr lang="en-US" dirty="0">
                <a:latin typeface="Calibra"/>
              </a:rPr>
            </a:br>
            <a:r>
              <a:rPr lang="en-US" dirty="0">
                <a:latin typeface="Calibra"/>
              </a:rPr>
              <a:t>Educational institutions traditionally rely on manual or semi-automated methods for classroom allocation and timetable preparation. As student strength, courses, and faculty increase, these approaches become inefficient, time-consuming, and error-prone.</a:t>
            </a:r>
          </a:p>
          <a:p>
            <a:r>
              <a:rPr lang="en-US" dirty="0">
                <a:latin typeface="Calibra"/>
              </a:rPr>
              <a:t>Existing systems often fail to handle:</a:t>
            </a:r>
          </a:p>
          <a:p>
            <a:r>
              <a:rPr lang="en-US" dirty="0">
                <a:latin typeface="Calibra"/>
              </a:rPr>
              <a:t>Classroom capacity constraints  an</a:t>
            </a:r>
          </a:p>
          <a:p>
            <a:r>
              <a:rPr lang="en-US" dirty="0">
                <a:latin typeface="Calibra"/>
              </a:rPr>
              <a:t>Faculty overload  and Attention hours are wrongly used</a:t>
            </a:r>
          </a:p>
          <a:p>
            <a:r>
              <a:rPr lang="en-US" dirty="0">
                <a:latin typeface="Calibra"/>
              </a:rPr>
              <a:t>Faculty availability conflicts</a:t>
            </a:r>
          </a:p>
          <a:p>
            <a:r>
              <a:rPr lang="en-US" dirty="0">
                <a:latin typeface="Calibra"/>
              </a:rPr>
              <a:t>Dynamic changes in schedules</a:t>
            </a:r>
          </a:p>
          <a:p>
            <a:pPr marL="76200" indent="0">
              <a:buNone/>
            </a:pPr>
            <a:r>
              <a:rPr lang="en-US" b="1" dirty="0">
                <a:latin typeface="Calibra"/>
              </a:rPr>
              <a:t>Related Work:</a:t>
            </a:r>
            <a:br>
              <a:rPr lang="en-US" dirty="0">
                <a:latin typeface="Calibra"/>
              </a:rPr>
            </a:br>
            <a:r>
              <a:rPr lang="en-US" dirty="0">
                <a:latin typeface="Calibra"/>
              </a:rPr>
              <a:t>Some institutions use basic timetable software or spreadsheets, which:</a:t>
            </a:r>
          </a:p>
          <a:p>
            <a:r>
              <a:rPr lang="en-US" dirty="0">
                <a:latin typeface="Calibra"/>
              </a:rPr>
              <a:t>Lack intelligent optimization</a:t>
            </a:r>
          </a:p>
          <a:p>
            <a:r>
              <a:rPr lang="en-US" dirty="0">
                <a:latin typeface="Calibra"/>
              </a:rPr>
              <a:t>Do not adapt to real-time constraints</a:t>
            </a:r>
          </a:p>
          <a:p>
            <a:r>
              <a:rPr lang="en-US" dirty="0">
                <a:latin typeface="Calibra"/>
              </a:rPr>
              <a:t>Offer minimal analytics and flexibility</a:t>
            </a:r>
          </a:p>
          <a:p>
            <a:endParaRPr lang="en-IN" dirty="0">
              <a:latin typeface="Calibra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7497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547329" y="2745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Technology Stack Components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76200" indent="0">
              <a:buNone/>
            </a:pPr>
            <a:r>
              <a:rPr lang="en-IN" b="1" dirty="0">
                <a:latin typeface="Calibra"/>
                <a:ea typeface="Calibri" panose="020F0502020204030204" pitchFamily="34" charset="0"/>
                <a:cs typeface="Calibri" panose="020F0502020204030204" pitchFamily="34" charset="0"/>
              </a:rPr>
              <a:t>1. Data Collection &amp; Processing</a:t>
            </a:r>
            <a:endParaRPr lang="en-IN" dirty="0">
              <a:latin typeface="Calibra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b="1" dirty="0">
                <a:latin typeface="Calibra"/>
              </a:rPr>
              <a:t>Python</a:t>
            </a:r>
            <a:r>
              <a:rPr lang="en-IN" dirty="0">
                <a:latin typeface="Calibra"/>
              </a:rPr>
              <a:t> – Data validation and preprocessing</a:t>
            </a:r>
          </a:p>
          <a:p>
            <a:r>
              <a:rPr lang="en-IN" b="1" dirty="0">
                <a:latin typeface="Calibra"/>
              </a:rPr>
              <a:t>JSON / CSV</a:t>
            </a:r>
            <a:r>
              <a:rPr lang="en-IN" dirty="0">
                <a:latin typeface="Calibra"/>
              </a:rPr>
              <a:t> – Structured input data formats</a:t>
            </a:r>
          </a:p>
          <a:p>
            <a:r>
              <a:rPr lang="en-IN" b="1" dirty="0">
                <a:latin typeface="Calibra"/>
              </a:rPr>
              <a:t>Pandas</a:t>
            </a:r>
            <a:r>
              <a:rPr lang="en-IN" dirty="0">
                <a:latin typeface="Calibra"/>
              </a:rPr>
              <a:t> – To read CSV files and to generate tabular format for timetables</a:t>
            </a:r>
            <a:endParaRPr lang="en-IN" b="1" dirty="0">
              <a:latin typeface="Calibra"/>
            </a:endParaRPr>
          </a:p>
          <a:p>
            <a:pPr marL="76200" indent="0">
              <a:buNone/>
            </a:pPr>
            <a:r>
              <a:rPr lang="en-US" b="1" dirty="0">
                <a:latin typeface="Calibra"/>
              </a:rPr>
              <a:t>2. Timetable Scheduling Logic</a:t>
            </a:r>
          </a:p>
          <a:p>
            <a:r>
              <a:rPr lang="en-US" sz="2200" b="1" dirty="0">
                <a:latin typeface="Calibra"/>
              </a:rPr>
              <a:t>CP-SAT</a:t>
            </a:r>
            <a:r>
              <a:rPr lang="en-IN" sz="2200" dirty="0">
                <a:latin typeface="Calibra"/>
              </a:rPr>
              <a:t> </a:t>
            </a:r>
            <a:r>
              <a:rPr lang="en-IN" dirty="0">
                <a:latin typeface="Calibra"/>
              </a:rPr>
              <a:t>– Constraint Programming - Satisfiability</a:t>
            </a:r>
          </a:p>
          <a:p>
            <a:r>
              <a:rPr lang="en-US" sz="2200" b="1" dirty="0">
                <a:latin typeface="Calibra"/>
              </a:rPr>
              <a:t>BACKTRACKING</a:t>
            </a:r>
            <a:r>
              <a:rPr lang="en-IN" dirty="0">
                <a:latin typeface="Calibra"/>
              </a:rPr>
              <a:t> – backtracking if all constraints are not satisfied</a:t>
            </a:r>
            <a:endParaRPr lang="en-US" dirty="0">
              <a:latin typeface="Calibra"/>
            </a:endParaRPr>
          </a:p>
          <a:p>
            <a:pPr marL="76200" indent="0">
              <a:buNone/>
            </a:pPr>
            <a:r>
              <a:rPr lang="en-IN" b="1" dirty="0">
                <a:latin typeface="Calibra"/>
              </a:rPr>
              <a:t>3. </a:t>
            </a:r>
            <a:r>
              <a:rPr lang="en-IN" b="1" dirty="0" err="1">
                <a:latin typeface="Calibra"/>
              </a:rPr>
              <a:t>Streamlit</a:t>
            </a:r>
            <a:endParaRPr lang="en-IN" b="1" dirty="0">
              <a:latin typeface="Calibra"/>
            </a:endParaRPr>
          </a:p>
          <a:p>
            <a:pPr marL="533400" indent="-457200">
              <a:buFont typeface="Arial" pitchFamily="34" charset="0"/>
              <a:buChar char="•"/>
            </a:pPr>
            <a:r>
              <a:rPr lang="en-IN" dirty="0">
                <a:latin typeface="Calibra"/>
              </a:rPr>
              <a:t>To maintain frontend and backend as a single centralized unit.</a:t>
            </a:r>
          </a:p>
          <a:p>
            <a:pPr marL="533400" indent="-457200">
              <a:buFont typeface="Arial" pitchFamily="34" charset="0"/>
              <a:buChar char="•"/>
            </a:pPr>
            <a:r>
              <a:rPr lang="en-IN" dirty="0">
                <a:latin typeface="Calibra"/>
              </a:rPr>
              <a:t>To visualize interactive dashboard and to retrieve the outputs.</a:t>
            </a:r>
          </a:p>
          <a:p>
            <a:pPr marL="533400" indent="-457200">
              <a:buNone/>
            </a:pPr>
            <a:r>
              <a:rPr lang="en-IN" b="1" dirty="0">
                <a:latin typeface="Calibra"/>
              </a:rPr>
              <a:t>4. Platforms</a:t>
            </a:r>
          </a:p>
          <a:p>
            <a:pPr marL="533400" indent="-457200"/>
            <a:r>
              <a:rPr lang="en-IN" b="1" dirty="0">
                <a:latin typeface="Calibra"/>
              </a:rPr>
              <a:t>Google </a:t>
            </a:r>
            <a:r>
              <a:rPr lang="en-IN" b="1" dirty="0" err="1">
                <a:latin typeface="Calibra"/>
              </a:rPr>
              <a:t>colab</a:t>
            </a:r>
            <a:r>
              <a:rPr lang="en-IN" b="1" dirty="0">
                <a:latin typeface="Calibra"/>
              </a:rPr>
              <a:t>/ VS Code – </a:t>
            </a:r>
            <a:r>
              <a:rPr lang="en-IN" dirty="0">
                <a:latin typeface="Calibra"/>
              </a:rPr>
              <a:t>To implement the logic to build a system.</a:t>
            </a:r>
          </a:p>
          <a:p>
            <a:pPr marL="533400" indent="-457200"/>
            <a:r>
              <a:rPr lang="en-IN" b="1" dirty="0">
                <a:latin typeface="Calibra"/>
              </a:rPr>
              <a:t>Stream lit – </a:t>
            </a:r>
            <a:r>
              <a:rPr lang="en-IN" dirty="0">
                <a:latin typeface="Calibra"/>
              </a:rPr>
              <a:t>Interactive dashboard to get the optimized timetables.</a:t>
            </a:r>
          </a:p>
          <a:p>
            <a:pPr marL="76200" indent="0">
              <a:buNone/>
            </a:pPr>
            <a:r>
              <a:rPr lang="en-IN" b="1" dirty="0">
                <a:latin typeface="Calibra"/>
              </a:rPr>
              <a:t>5. Hosting &amp; Deployment</a:t>
            </a:r>
          </a:p>
          <a:p>
            <a:r>
              <a:rPr lang="en-IN" b="1" dirty="0">
                <a:latin typeface="Calibra"/>
              </a:rPr>
              <a:t>GitHub</a:t>
            </a:r>
            <a:r>
              <a:rPr lang="en-IN" dirty="0">
                <a:latin typeface="Calibra"/>
              </a:rPr>
              <a:t> – Source Code Management and project collaboration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libra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54410BB5-BA82-6C89-71B3-E7E6FC71B7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3858" y="934065"/>
            <a:ext cx="4572000" cy="592393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59718D67-1702-6527-0A8E-AAB7EBBC218D}"/>
              </a:ext>
            </a:extLst>
          </p:cNvPr>
          <p:cNvSpPr txBox="1"/>
          <p:nvPr/>
        </p:nvSpPr>
        <p:spPr>
          <a:xfrm>
            <a:off x="766915" y="275304"/>
            <a:ext cx="47883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Architecture Diagram</a:t>
            </a:r>
            <a:endParaRPr lang="en-IN" sz="2800" b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21033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Github link provided should have public access permission.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GitHub Link: 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https://github.com/Bhargavi872004/CSE_35_SmartClassRoomAndTimeTableScheduler</a:t>
            </a: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Requirements 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924232"/>
            <a:ext cx="10668000" cy="5171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6200" indent="0">
              <a:buNone/>
            </a:pPr>
            <a:r>
              <a:rPr lang="en-IN" sz="2000" b="1" dirty="0">
                <a:latin typeface="Calibra"/>
              </a:rPr>
              <a:t>Software Requirements</a:t>
            </a:r>
          </a:p>
          <a:p>
            <a:pPr marL="76200" indent="0">
              <a:buNone/>
            </a:pPr>
            <a:r>
              <a:rPr lang="en-IN" sz="2000" b="1" dirty="0">
                <a:latin typeface="Calibra"/>
              </a:rPr>
              <a:t>Operating System:</a:t>
            </a:r>
            <a:endParaRPr lang="en-IN" sz="2000" dirty="0">
              <a:latin typeface="Calibra"/>
            </a:endParaRPr>
          </a:p>
          <a:p>
            <a:r>
              <a:rPr lang="en-IN" sz="2000" dirty="0">
                <a:latin typeface="Calibra"/>
              </a:rPr>
              <a:t>Windows 10 or later</a:t>
            </a:r>
          </a:p>
          <a:p>
            <a:pPr marL="76200" indent="0">
              <a:buNone/>
            </a:pPr>
            <a:r>
              <a:rPr lang="en-IN" sz="2000" b="1" dirty="0">
                <a:latin typeface="Calibra"/>
              </a:rPr>
              <a:t>Programming Language:</a:t>
            </a:r>
            <a:endParaRPr lang="en-IN" sz="2000" dirty="0">
              <a:latin typeface="Calibra"/>
            </a:endParaRPr>
          </a:p>
          <a:p>
            <a:r>
              <a:rPr lang="en-IN" sz="2000" dirty="0">
                <a:latin typeface="Calibra"/>
              </a:rPr>
              <a:t>Python 3.9 or higher</a:t>
            </a:r>
          </a:p>
          <a:p>
            <a:pPr marL="76200" indent="0">
              <a:buNone/>
            </a:pPr>
            <a:r>
              <a:rPr lang="en-IN" sz="2000" b="1" dirty="0">
                <a:latin typeface="Calibra"/>
              </a:rPr>
              <a:t>Libraries &amp; Frameworks:</a:t>
            </a:r>
            <a:endParaRPr lang="en-IN" sz="2000" dirty="0">
              <a:latin typeface="Calibra"/>
            </a:endParaRPr>
          </a:p>
          <a:p>
            <a:r>
              <a:rPr lang="en-IN" sz="2000" dirty="0">
                <a:latin typeface="Calibra"/>
              </a:rPr>
              <a:t>NumPy – Numerical and logical operations</a:t>
            </a:r>
          </a:p>
          <a:p>
            <a:r>
              <a:rPr lang="en-IN" sz="2000" dirty="0">
                <a:latin typeface="Calibra"/>
              </a:rPr>
              <a:t>Pandas – Data handling and preprocessing</a:t>
            </a:r>
          </a:p>
          <a:p>
            <a:pPr marL="76200" indent="0">
              <a:buNone/>
            </a:pPr>
            <a:r>
              <a:rPr lang="en-IN" sz="2000" b="1" dirty="0">
                <a:latin typeface="Calibra"/>
              </a:rPr>
              <a:t>Stream lit:</a:t>
            </a:r>
          </a:p>
          <a:p>
            <a:pPr marL="533400" indent="-457200">
              <a:buFont typeface="Arial" pitchFamily="34" charset="0"/>
              <a:buChar char="•"/>
            </a:pPr>
            <a:r>
              <a:rPr lang="en-IN" sz="2000" dirty="0">
                <a:latin typeface="Calibra"/>
              </a:rPr>
              <a:t>To maintain frontend and backend as a single centralized unit.</a:t>
            </a:r>
          </a:p>
          <a:p>
            <a:pPr marL="533400" indent="-457200">
              <a:buFont typeface="Arial" pitchFamily="34" charset="0"/>
              <a:buChar char="•"/>
            </a:pPr>
            <a:r>
              <a:rPr lang="en-IN" sz="2000" dirty="0">
                <a:latin typeface="Calibra"/>
              </a:rPr>
              <a:t>To visualize interactive dashboard and to retrieve the outputs.</a:t>
            </a:r>
          </a:p>
          <a:p>
            <a:pPr marL="76200" indent="0">
              <a:buNone/>
            </a:pPr>
            <a:r>
              <a:rPr lang="en-IN" sz="2000" b="1" dirty="0">
                <a:latin typeface="Calibra"/>
              </a:rPr>
              <a:t>IDE / Tools: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Calibra"/>
              </a:rPr>
              <a:t>Google </a:t>
            </a:r>
            <a:r>
              <a:rPr lang="en-US" altLang="en-US" sz="2000" dirty="0" err="1">
                <a:solidFill>
                  <a:schemeClr val="tx1"/>
                </a:solidFill>
                <a:latin typeface="Calibra"/>
              </a:rPr>
              <a:t>Colab</a:t>
            </a:r>
            <a:r>
              <a:rPr lang="en-US" altLang="en-US" sz="2000" dirty="0">
                <a:solidFill>
                  <a:schemeClr val="tx1"/>
                </a:solidFill>
                <a:latin typeface="Calibra"/>
              </a:rPr>
              <a:t> / Visual Studio Code – Code and Logic Implementation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Calibra"/>
              </a:rPr>
              <a:t> Microsoft Excel – Initial data entry and validation</a:t>
            </a:r>
          </a:p>
          <a:p>
            <a:pPr>
              <a:buNone/>
            </a:pPr>
            <a:endParaRPr lang="en-US" altLang="en-US" sz="2000" dirty="0">
              <a:solidFill>
                <a:schemeClr val="tx1"/>
              </a:solidFill>
              <a:latin typeface="Calibra"/>
            </a:endParaRPr>
          </a:p>
          <a:p>
            <a:endParaRPr lang="en-IN" sz="2000" dirty="0">
              <a:latin typeface="Calibra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000" dirty="0">
              <a:latin typeface="Calibra"/>
              <a:ea typeface="Cambria" panose="0204050305040603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1D3318A-710C-B246-CAED-51C56A58D3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D60B72-C62B-A665-7554-16FC8A9CD4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-322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50000"/>
              </a:lnSpc>
              <a:spcBef>
                <a:spcPts val="0"/>
              </a:spcBef>
              <a:buSzPct val="100000"/>
            </a:pPr>
            <a:r>
              <a:rPr lang="en-US" sz="2000" dirty="0">
                <a:latin typeface="Calibra"/>
              </a:rPr>
              <a:t>Manual classroom allocation and timetable preparation become increasingly complex as the number of courses, faculty members, classrooms, and time slots increases.</a:t>
            </a: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SzPct val="100000"/>
            </a:pPr>
            <a:r>
              <a:rPr lang="en-US" sz="2000" dirty="0">
                <a:latin typeface="Calibra"/>
              </a:rPr>
              <a:t>The absence of an automated scheduling system leads to frequent timetable clashes, inefficient use of classroom resources, and increased administrative workload.</a:t>
            </a: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SzPct val="100000"/>
            </a:pPr>
            <a:r>
              <a:rPr lang="en-US" sz="2000" dirty="0">
                <a:latin typeface="Calibra"/>
              </a:rPr>
              <a:t>Hard Subjects are not placed in attentive slots, required teaching hours are not satisfied and Faculty workloads are unbalanced.</a:t>
            </a: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SzPct val="100000"/>
            </a:pPr>
            <a:r>
              <a:rPr lang="en-US" sz="2000" dirty="0">
                <a:latin typeface="Calibra"/>
              </a:rPr>
              <a:t>Faculty availability constraints and classroom capacity limitations are often not handled systematically, resulting in academic disruptions.</a:t>
            </a: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SzPct val="100000"/>
            </a:pPr>
            <a:r>
              <a:rPr lang="en-US" sz="2000" dirty="0">
                <a:latin typeface="Calibra"/>
              </a:rPr>
              <a:t>These challenges highlight the need for a reliable, software-based scheduling solution that can manage constraints efficiently and generate optimized timetables.</a:t>
            </a:r>
            <a:endParaRPr sz="2000" dirty="0">
              <a:latin typeface="Calibra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04557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WEEK-8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CBF1260-91E1-44C1-F161-8A93FD4C84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2301515"/>
              </p:ext>
            </p:extLst>
          </p:nvPr>
        </p:nvGraphicFramePr>
        <p:xfrm>
          <a:off x="2310580" y="1430095"/>
          <a:ext cx="9170217" cy="4740100"/>
        </p:xfrm>
        <a:graphic>
          <a:graphicData uri="http://schemas.openxmlformats.org/drawingml/2006/table">
            <a:tbl>
              <a:tblPr/>
              <a:tblGrid>
                <a:gridCol w="1130710">
                  <a:extLst>
                    <a:ext uri="{9D8B030D-6E8A-4147-A177-3AD203B41FA5}">
                      <a16:colId xmlns:a16="http://schemas.microsoft.com/office/drawing/2014/main" val="1930226532"/>
                    </a:ext>
                  </a:extLst>
                </a:gridCol>
                <a:gridCol w="907116">
                  <a:extLst>
                    <a:ext uri="{9D8B030D-6E8A-4147-A177-3AD203B41FA5}">
                      <a16:colId xmlns:a16="http://schemas.microsoft.com/office/drawing/2014/main" val="2126845997"/>
                    </a:ext>
                  </a:extLst>
                </a:gridCol>
                <a:gridCol w="1018913">
                  <a:extLst>
                    <a:ext uri="{9D8B030D-6E8A-4147-A177-3AD203B41FA5}">
                      <a16:colId xmlns:a16="http://schemas.microsoft.com/office/drawing/2014/main" val="1532746584"/>
                    </a:ext>
                  </a:extLst>
                </a:gridCol>
                <a:gridCol w="1018913">
                  <a:extLst>
                    <a:ext uri="{9D8B030D-6E8A-4147-A177-3AD203B41FA5}">
                      <a16:colId xmlns:a16="http://schemas.microsoft.com/office/drawing/2014/main" val="1477005088"/>
                    </a:ext>
                  </a:extLst>
                </a:gridCol>
                <a:gridCol w="1018913">
                  <a:extLst>
                    <a:ext uri="{9D8B030D-6E8A-4147-A177-3AD203B41FA5}">
                      <a16:colId xmlns:a16="http://schemas.microsoft.com/office/drawing/2014/main" val="3528554254"/>
                    </a:ext>
                  </a:extLst>
                </a:gridCol>
                <a:gridCol w="1018913">
                  <a:extLst>
                    <a:ext uri="{9D8B030D-6E8A-4147-A177-3AD203B41FA5}">
                      <a16:colId xmlns:a16="http://schemas.microsoft.com/office/drawing/2014/main" val="1394919555"/>
                    </a:ext>
                  </a:extLst>
                </a:gridCol>
                <a:gridCol w="1018913">
                  <a:extLst>
                    <a:ext uri="{9D8B030D-6E8A-4147-A177-3AD203B41FA5}">
                      <a16:colId xmlns:a16="http://schemas.microsoft.com/office/drawing/2014/main" val="2121086846"/>
                    </a:ext>
                  </a:extLst>
                </a:gridCol>
                <a:gridCol w="1018913">
                  <a:extLst>
                    <a:ext uri="{9D8B030D-6E8A-4147-A177-3AD203B41FA5}">
                      <a16:colId xmlns:a16="http://schemas.microsoft.com/office/drawing/2014/main" val="4153111860"/>
                    </a:ext>
                  </a:extLst>
                </a:gridCol>
                <a:gridCol w="1018913">
                  <a:extLst>
                    <a:ext uri="{9D8B030D-6E8A-4147-A177-3AD203B41FA5}">
                      <a16:colId xmlns:a16="http://schemas.microsoft.com/office/drawing/2014/main" val="1340947635"/>
                    </a:ext>
                  </a:extLst>
                </a:gridCol>
              </a:tblGrid>
              <a:tr h="2532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latin typeface="Calibra"/>
                        </a:rPr>
                        <a:t>Phase</a:t>
                      </a:r>
                    </a:p>
                  </a:txBody>
                  <a:tcPr marL="80319" marR="80319" marT="40159" marB="4015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latin typeface="Calibra"/>
                        </a:rPr>
                        <a:t>Week 1</a:t>
                      </a:r>
                    </a:p>
                  </a:txBody>
                  <a:tcPr marL="80319" marR="80319" marT="40159" marB="401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latin typeface="Calibra"/>
                        </a:rPr>
                        <a:t>Week 2</a:t>
                      </a:r>
                    </a:p>
                  </a:txBody>
                  <a:tcPr marL="80319" marR="80319" marT="40159" marB="401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latin typeface="Calibra"/>
                        </a:rPr>
                        <a:t>Week 3</a:t>
                      </a:r>
                    </a:p>
                  </a:txBody>
                  <a:tcPr marL="80319" marR="80319" marT="40159" marB="401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latin typeface="Calibra"/>
                        </a:rPr>
                        <a:t>Week 4</a:t>
                      </a:r>
                    </a:p>
                  </a:txBody>
                  <a:tcPr marL="80319" marR="80319" marT="40159" marB="401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latin typeface="Calibra"/>
                        </a:rPr>
                        <a:t>Week 5</a:t>
                      </a:r>
                    </a:p>
                  </a:txBody>
                  <a:tcPr marL="80319" marR="80319" marT="40159" marB="401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latin typeface="Calibra"/>
                        </a:rPr>
                        <a:t>Week 6</a:t>
                      </a:r>
                    </a:p>
                  </a:txBody>
                  <a:tcPr marL="80319" marR="80319" marT="40159" marB="401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latin typeface="Calibra"/>
                        </a:rPr>
                        <a:t>Week 7</a:t>
                      </a:r>
                    </a:p>
                  </a:txBody>
                  <a:tcPr marL="80319" marR="80319" marT="40159" marB="401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latin typeface="Calibra"/>
                        </a:rPr>
                        <a:t>Week 8</a:t>
                      </a:r>
                    </a:p>
                  </a:txBody>
                  <a:tcPr marL="80319" marR="80319" marT="40159" marB="401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662276063"/>
                  </a:ext>
                </a:extLst>
              </a:tr>
              <a:tr h="7812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latin typeface="Calibra"/>
                        </a:rPr>
                        <a:t>Requirement Analysis &amp; Data Collection</a:t>
                      </a:r>
                    </a:p>
                  </a:txBody>
                  <a:tcPr marL="80319" marR="80319" marT="40159" marB="4015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latin typeface="Calibra"/>
                        </a:rPr>
                        <a:t>✓</a:t>
                      </a:r>
                    </a:p>
                  </a:txBody>
                  <a:tcPr marL="80319" marR="80319" marT="40159" marB="401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latin typeface="Calibra"/>
                        </a:rPr>
                        <a:t>✓</a:t>
                      </a:r>
                    </a:p>
                  </a:txBody>
                  <a:tcPr marL="80319" marR="80319" marT="40159" marB="401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b="1">
                        <a:latin typeface="Calibra"/>
                      </a:endParaRPr>
                    </a:p>
                  </a:txBody>
                  <a:tcPr marL="80319" marR="80319" marT="40159" marB="401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b="1">
                        <a:latin typeface="Calibra"/>
                      </a:endParaRPr>
                    </a:p>
                  </a:txBody>
                  <a:tcPr marL="80319" marR="80319" marT="40159" marB="401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b="1">
                        <a:latin typeface="Calibra"/>
                      </a:endParaRPr>
                    </a:p>
                  </a:txBody>
                  <a:tcPr marL="80319" marR="80319" marT="40159" marB="401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b="1">
                        <a:latin typeface="Calibra"/>
                      </a:endParaRPr>
                    </a:p>
                  </a:txBody>
                  <a:tcPr marL="80319" marR="80319" marT="40159" marB="401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b="1">
                        <a:latin typeface="Calibra"/>
                      </a:endParaRPr>
                    </a:p>
                  </a:txBody>
                  <a:tcPr marL="80319" marR="80319" marT="40159" marB="401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b="1">
                        <a:latin typeface="Calibra"/>
                      </a:endParaRPr>
                    </a:p>
                  </a:txBody>
                  <a:tcPr marL="80319" marR="80319" marT="40159" marB="401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684176047"/>
                  </a:ext>
                </a:extLst>
              </a:tr>
              <a:tr h="6052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latin typeface="Calibra"/>
                        </a:rPr>
                        <a:t>Data Preparation &amp; Validation</a:t>
                      </a:r>
                    </a:p>
                  </a:txBody>
                  <a:tcPr marL="80319" marR="80319" marT="40159" marB="4015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b="1">
                        <a:latin typeface="Calibra"/>
                      </a:endParaRPr>
                    </a:p>
                  </a:txBody>
                  <a:tcPr marL="80319" marR="80319" marT="40159" marB="401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latin typeface="Calibra"/>
                        </a:rPr>
                        <a:t>✓</a:t>
                      </a:r>
                    </a:p>
                  </a:txBody>
                  <a:tcPr marL="80319" marR="80319" marT="40159" marB="401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latin typeface="Calibra"/>
                        </a:rPr>
                        <a:t>✓</a:t>
                      </a:r>
                    </a:p>
                  </a:txBody>
                  <a:tcPr marL="80319" marR="80319" marT="40159" marB="401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b="1">
                        <a:latin typeface="Calibra"/>
                      </a:endParaRPr>
                    </a:p>
                  </a:txBody>
                  <a:tcPr marL="80319" marR="80319" marT="40159" marB="401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b="1">
                        <a:latin typeface="Calibra"/>
                      </a:endParaRPr>
                    </a:p>
                  </a:txBody>
                  <a:tcPr marL="80319" marR="80319" marT="40159" marB="401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b="1">
                        <a:latin typeface="Calibra"/>
                      </a:endParaRPr>
                    </a:p>
                  </a:txBody>
                  <a:tcPr marL="80319" marR="80319" marT="40159" marB="401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b="1">
                        <a:latin typeface="Calibra"/>
                      </a:endParaRPr>
                    </a:p>
                  </a:txBody>
                  <a:tcPr marL="80319" marR="80319" marT="40159" marB="401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b="1">
                        <a:latin typeface="Calibra"/>
                      </a:endParaRPr>
                    </a:p>
                  </a:txBody>
                  <a:tcPr marL="80319" marR="80319" marT="40159" marB="401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852608523"/>
                  </a:ext>
                </a:extLst>
              </a:tr>
              <a:tr h="6052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latin typeface="Calibra"/>
                        </a:rPr>
                        <a:t>Scheduling Logic Design</a:t>
                      </a:r>
                    </a:p>
                  </a:txBody>
                  <a:tcPr marL="80319" marR="80319" marT="40159" marB="4015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b="1">
                        <a:latin typeface="Calibra"/>
                      </a:endParaRPr>
                    </a:p>
                  </a:txBody>
                  <a:tcPr marL="80319" marR="80319" marT="40159" marB="401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b="1">
                        <a:latin typeface="Calibra"/>
                      </a:endParaRPr>
                    </a:p>
                  </a:txBody>
                  <a:tcPr marL="80319" marR="80319" marT="40159" marB="401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latin typeface="Calibra"/>
                        </a:rPr>
                        <a:t>✓</a:t>
                      </a:r>
                    </a:p>
                  </a:txBody>
                  <a:tcPr marL="80319" marR="80319" marT="40159" marB="401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latin typeface="Calibra"/>
                        </a:rPr>
                        <a:t>✓</a:t>
                      </a:r>
                    </a:p>
                  </a:txBody>
                  <a:tcPr marL="80319" marR="80319" marT="40159" marB="401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b="1" dirty="0">
                        <a:latin typeface="Calibra"/>
                      </a:endParaRPr>
                    </a:p>
                  </a:txBody>
                  <a:tcPr marL="80319" marR="80319" marT="40159" marB="401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b="1">
                        <a:latin typeface="Calibra"/>
                      </a:endParaRPr>
                    </a:p>
                  </a:txBody>
                  <a:tcPr marL="80319" marR="80319" marT="40159" marB="401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b="1">
                        <a:latin typeface="Calibra"/>
                      </a:endParaRPr>
                    </a:p>
                  </a:txBody>
                  <a:tcPr marL="80319" marR="80319" marT="40159" marB="401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b="1">
                        <a:latin typeface="Calibra"/>
                      </a:endParaRPr>
                    </a:p>
                  </a:txBody>
                  <a:tcPr marL="80319" marR="80319" marT="40159" marB="401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474463583"/>
                  </a:ext>
                </a:extLst>
              </a:tr>
              <a:tr h="6052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latin typeface="Calibra"/>
                        </a:rPr>
                        <a:t>Backend Development</a:t>
                      </a:r>
                    </a:p>
                  </a:txBody>
                  <a:tcPr marL="80319" marR="80319" marT="40159" marB="4015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b="1">
                        <a:latin typeface="Calibra"/>
                      </a:endParaRPr>
                    </a:p>
                  </a:txBody>
                  <a:tcPr marL="80319" marR="80319" marT="40159" marB="401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b="1">
                        <a:latin typeface="Calibra"/>
                      </a:endParaRPr>
                    </a:p>
                  </a:txBody>
                  <a:tcPr marL="80319" marR="80319" marT="40159" marB="401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b="1">
                        <a:latin typeface="Calibra"/>
                      </a:endParaRPr>
                    </a:p>
                  </a:txBody>
                  <a:tcPr marL="80319" marR="80319" marT="40159" marB="401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latin typeface="Calibra"/>
                        </a:rPr>
                        <a:t>✓</a:t>
                      </a:r>
                    </a:p>
                  </a:txBody>
                  <a:tcPr marL="80319" marR="80319" marT="40159" marB="401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latin typeface="Calibra"/>
                        </a:rPr>
                        <a:t>✓</a:t>
                      </a:r>
                    </a:p>
                  </a:txBody>
                  <a:tcPr marL="80319" marR="80319" marT="40159" marB="401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b="1">
                        <a:latin typeface="Calibra"/>
                      </a:endParaRPr>
                    </a:p>
                  </a:txBody>
                  <a:tcPr marL="80319" marR="80319" marT="40159" marB="401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b="1">
                        <a:latin typeface="Calibra"/>
                      </a:endParaRPr>
                    </a:p>
                  </a:txBody>
                  <a:tcPr marL="80319" marR="80319" marT="40159" marB="401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b="1">
                        <a:latin typeface="Calibra"/>
                      </a:endParaRPr>
                    </a:p>
                  </a:txBody>
                  <a:tcPr marL="80319" marR="80319" marT="40159" marB="401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514748729"/>
                  </a:ext>
                </a:extLst>
              </a:tr>
              <a:tr h="7812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latin typeface="Calibra"/>
                        </a:rPr>
                        <a:t>Frontend / UI Development</a:t>
                      </a:r>
                    </a:p>
                  </a:txBody>
                  <a:tcPr marL="80319" marR="80319" marT="40159" marB="4015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b="1">
                        <a:latin typeface="Calibra"/>
                      </a:endParaRPr>
                    </a:p>
                  </a:txBody>
                  <a:tcPr marL="80319" marR="80319" marT="40159" marB="401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b="1">
                        <a:latin typeface="Calibra"/>
                      </a:endParaRPr>
                    </a:p>
                  </a:txBody>
                  <a:tcPr marL="80319" marR="80319" marT="40159" marB="401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b="1">
                        <a:latin typeface="Calibra"/>
                      </a:endParaRPr>
                    </a:p>
                  </a:txBody>
                  <a:tcPr marL="80319" marR="80319" marT="40159" marB="401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b="1">
                        <a:latin typeface="Calibra"/>
                      </a:endParaRPr>
                    </a:p>
                  </a:txBody>
                  <a:tcPr marL="80319" marR="80319" marT="40159" marB="401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latin typeface="Calibra"/>
                        </a:rPr>
                        <a:t>✓</a:t>
                      </a:r>
                    </a:p>
                  </a:txBody>
                  <a:tcPr marL="80319" marR="80319" marT="40159" marB="401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latin typeface="Calibra"/>
                        </a:rPr>
                        <a:t>✓</a:t>
                      </a:r>
                    </a:p>
                  </a:txBody>
                  <a:tcPr marL="80319" marR="80319" marT="40159" marB="401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b="1" dirty="0">
                        <a:latin typeface="Calibra"/>
                      </a:endParaRPr>
                    </a:p>
                  </a:txBody>
                  <a:tcPr marL="80319" marR="80319" marT="40159" marB="401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b="1">
                        <a:latin typeface="Calibra"/>
                      </a:endParaRPr>
                    </a:p>
                  </a:txBody>
                  <a:tcPr marL="80319" marR="80319" marT="40159" marB="401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338159045"/>
                  </a:ext>
                </a:extLst>
              </a:tr>
              <a:tr h="4292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latin typeface="Calibra"/>
                        </a:rPr>
                        <a:t>Testing &amp; Optimization</a:t>
                      </a:r>
                    </a:p>
                  </a:txBody>
                  <a:tcPr marL="80319" marR="80319" marT="40159" marB="4015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b="1">
                        <a:latin typeface="Calibra"/>
                      </a:endParaRPr>
                    </a:p>
                  </a:txBody>
                  <a:tcPr marL="80319" marR="80319" marT="40159" marB="401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b="1">
                        <a:latin typeface="Calibra"/>
                      </a:endParaRPr>
                    </a:p>
                  </a:txBody>
                  <a:tcPr marL="80319" marR="80319" marT="40159" marB="401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b="1">
                        <a:latin typeface="Calibra"/>
                      </a:endParaRPr>
                    </a:p>
                  </a:txBody>
                  <a:tcPr marL="80319" marR="80319" marT="40159" marB="401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b="1">
                        <a:latin typeface="Calibra"/>
                      </a:endParaRPr>
                    </a:p>
                  </a:txBody>
                  <a:tcPr marL="80319" marR="80319" marT="40159" marB="401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b="1">
                        <a:latin typeface="Calibra"/>
                      </a:endParaRPr>
                    </a:p>
                  </a:txBody>
                  <a:tcPr marL="80319" marR="80319" marT="40159" marB="401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latin typeface="Calibra"/>
                        </a:rPr>
                        <a:t>✓</a:t>
                      </a:r>
                    </a:p>
                  </a:txBody>
                  <a:tcPr marL="80319" marR="80319" marT="40159" marB="401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latin typeface="Calibra"/>
                        </a:rPr>
                        <a:t>✓</a:t>
                      </a:r>
                    </a:p>
                  </a:txBody>
                  <a:tcPr marL="80319" marR="80319" marT="40159" marB="401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b="1">
                        <a:latin typeface="Calibra"/>
                      </a:endParaRPr>
                    </a:p>
                  </a:txBody>
                  <a:tcPr marL="80319" marR="80319" marT="40159" marB="401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321310324"/>
                  </a:ext>
                </a:extLst>
              </a:tr>
              <a:tr h="6052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latin typeface="Calibra"/>
                        </a:rPr>
                        <a:t>Documentation &amp; Final Review</a:t>
                      </a:r>
                    </a:p>
                  </a:txBody>
                  <a:tcPr marL="80319" marR="80319" marT="40159" marB="40159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b="1">
                        <a:latin typeface="Calibra"/>
                      </a:endParaRPr>
                    </a:p>
                  </a:txBody>
                  <a:tcPr marL="80319" marR="80319" marT="40159" marB="401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b="1">
                        <a:latin typeface="Calibra"/>
                      </a:endParaRPr>
                    </a:p>
                  </a:txBody>
                  <a:tcPr marL="80319" marR="80319" marT="40159" marB="401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b="1">
                        <a:latin typeface="Calibra"/>
                      </a:endParaRPr>
                    </a:p>
                  </a:txBody>
                  <a:tcPr marL="80319" marR="80319" marT="40159" marB="401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b="1" dirty="0">
                        <a:latin typeface="Calibra"/>
                      </a:endParaRPr>
                    </a:p>
                  </a:txBody>
                  <a:tcPr marL="80319" marR="80319" marT="40159" marB="401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b="1">
                        <a:latin typeface="Calibra"/>
                      </a:endParaRPr>
                    </a:p>
                  </a:txBody>
                  <a:tcPr marL="80319" marR="80319" marT="40159" marB="401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b="1">
                        <a:latin typeface="Calibra"/>
                      </a:endParaRPr>
                    </a:p>
                  </a:txBody>
                  <a:tcPr marL="80319" marR="80319" marT="40159" marB="401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latin typeface="Calibra"/>
                        </a:rPr>
                        <a:t>✓</a:t>
                      </a:r>
                    </a:p>
                  </a:txBody>
                  <a:tcPr marL="80319" marR="80319" marT="40159" marB="401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latin typeface="Calibra"/>
                        </a:rPr>
                        <a:t>✓</a:t>
                      </a:r>
                    </a:p>
                  </a:txBody>
                  <a:tcPr marL="80319" marR="80319" marT="40159" marB="401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7557191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AEB8C2C-718B-5661-6521-3425DC674D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344247"/>
            <a:ext cx="11533239" cy="65505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 sz="1800" dirty="0"/>
          </a:p>
          <a:p>
            <a:endParaRPr lang="en-IN" sz="1800" dirty="0"/>
          </a:p>
          <a:p>
            <a:r>
              <a:rPr lang="en-IN" sz="1800" dirty="0"/>
              <a:t>[1] A. Verma and S. Iyer, “Automated timetable generation using constraint-based scheduling,” </a:t>
            </a:r>
            <a:r>
              <a:rPr lang="en-IN" sz="1800" i="1" dirty="0"/>
              <a:t>IEEE Access</a:t>
            </a:r>
            <a:r>
              <a:rPr lang="en-IN" sz="1800" dirty="0"/>
              <a:t>, vol. 11, pp. 38745–38756, 2023.</a:t>
            </a:r>
          </a:p>
          <a:p>
            <a:r>
              <a:rPr lang="en-IN" sz="1800" dirty="0"/>
              <a:t>[2] R. Kumar, P. Singh, and M. Joshi, “Smart classroom management systems: Design and implementation,” </a:t>
            </a:r>
            <a:r>
              <a:rPr lang="en-IN" sz="1800" i="1" dirty="0"/>
              <a:t>IEEE Transactions on Education</a:t>
            </a:r>
            <a:r>
              <a:rPr lang="en-IN" sz="1800" dirty="0"/>
              <a:t>, vol. 65, no. 4, pp. 512–520, Aug. 2022.</a:t>
            </a:r>
          </a:p>
          <a:p>
            <a:r>
              <a:rPr lang="en-IN" sz="1800" dirty="0"/>
              <a:t>[3] S. Gupta and N. Mehta, “Optimization techniques for classroom allocation and faculty scheduling,” </a:t>
            </a:r>
            <a:r>
              <a:rPr lang="en-IN" sz="1800" i="1" dirty="0"/>
              <a:t>IEEE Access</a:t>
            </a:r>
            <a:r>
              <a:rPr lang="en-IN" sz="1800" dirty="0"/>
              <a:t>, vol. 10, pp. 74821–74832, 2022.</a:t>
            </a:r>
          </a:p>
          <a:p>
            <a:r>
              <a:rPr lang="en-IN" sz="1800" dirty="0"/>
              <a:t>[4] J. Fernandes, P. Silva, and R. Costa, “A comparative study of university course timetabling approaches,” in </a:t>
            </a:r>
            <a:r>
              <a:rPr lang="en-IN" sz="1800" i="1" dirty="0"/>
              <a:t>Proc. IEEE International Conference on Learning Technologies</a:t>
            </a:r>
            <a:r>
              <a:rPr lang="en-IN" sz="1800" dirty="0"/>
              <a:t>, pp. 45–52, 2019.</a:t>
            </a:r>
          </a:p>
          <a:p>
            <a:r>
              <a:rPr lang="en-IN" sz="1800" dirty="0"/>
              <a:t>[5] M. Hassan and L. Chen, “Constraint satisfaction methods for automated course timetabling,” </a:t>
            </a:r>
            <a:r>
              <a:rPr lang="en-IN" sz="1800" i="1" dirty="0"/>
              <a:t>IEEE Transactions on Systems, Man, and Cybernetics: Systems</a:t>
            </a:r>
            <a:r>
              <a:rPr lang="en-IN" sz="1800" dirty="0"/>
              <a:t>, vol. 50, no. 6, pp. 2145–2154, June 2020.</a:t>
            </a:r>
          </a:p>
          <a:p>
            <a:r>
              <a:rPr lang="en-IN" sz="1800" dirty="0"/>
              <a:t>[6] T. Nguyen and H. Pham, “Efficient classroom utilization using automated scheduling algorithms,” </a:t>
            </a:r>
            <a:r>
              <a:rPr lang="en-IN" sz="1800" i="1" dirty="0"/>
              <a:t>IEEE Access</a:t>
            </a:r>
            <a:r>
              <a:rPr lang="en-IN" sz="1800" dirty="0"/>
              <a:t>, vol. 9, pp. 90112–90121, 2021.</a:t>
            </a:r>
          </a:p>
          <a:p>
            <a:r>
              <a:rPr lang="en-IN" sz="1800" dirty="0"/>
              <a:t>[7] A. Choudhury and P. Banerjee, “Design of scalable timetable management systems for universities,” in </a:t>
            </a:r>
            <a:r>
              <a:rPr lang="en-IN" sz="1800" i="1" dirty="0"/>
              <a:t>Proc. IEEE International Conference on Advances in Computing, Communication and Control</a:t>
            </a:r>
            <a:r>
              <a:rPr lang="en-IN" sz="1800" dirty="0"/>
              <a:t>, pp. 119–124, 2020.</a:t>
            </a:r>
          </a:p>
          <a:p>
            <a:endParaRPr lang="en-IN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47757-F0D5-8D87-3C54-DE542C8F7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libra"/>
              </a:rPr>
              <a:t>Literature Review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3F453C3-30F4-D911-E4B7-80FED9AA7E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5645311"/>
              </p:ext>
            </p:extLst>
          </p:nvPr>
        </p:nvGraphicFramePr>
        <p:xfrm>
          <a:off x="1939155" y="1143000"/>
          <a:ext cx="8415290" cy="4953000"/>
        </p:xfrm>
        <a:graphic>
          <a:graphicData uri="http://schemas.openxmlformats.org/drawingml/2006/table">
            <a:tbl>
              <a:tblPr/>
              <a:tblGrid>
                <a:gridCol w="1683058">
                  <a:extLst>
                    <a:ext uri="{9D8B030D-6E8A-4147-A177-3AD203B41FA5}">
                      <a16:colId xmlns:a16="http://schemas.microsoft.com/office/drawing/2014/main" val="2579910497"/>
                    </a:ext>
                  </a:extLst>
                </a:gridCol>
                <a:gridCol w="1683058">
                  <a:extLst>
                    <a:ext uri="{9D8B030D-6E8A-4147-A177-3AD203B41FA5}">
                      <a16:colId xmlns:a16="http://schemas.microsoft.com/office/drawing/2014/main" val="1981105478"/>
                    </a:ext>
                  </a:extLst>
                </a:gridCol>
                <a:gridCol w="1683058">
                  <a:extLst>
                    <a:ext uri="{9D8B030D-6E8A-4147-A177-3AD203B41FA5}">
                      <a16:colId xmlns:a16="http://schemas.microsoft.com/office/drawing/2014/main" val="4109920616"/>
                    </a:ext>
                  </a:extLst>
                </a:gridCol>
                <a:gridCol w="1683058">
                  <a:extLst>
                    <a:ext uri="{9D8B030D-6E8A-4147-A177-3AD203B41FA5}">
                      <a16:colId xmlns:a16="http://schemas.microsoft.com/office/drawing/2014/main" val="2789159986"/>
                    </a:ext>
                  </a:extLst>
                </a:gridCol>
                <a:gridCol w="1683058">
                  <a:extLst>
                    <a:ext uri="{9D8B030D-6E8A-4147-A177-3AD203B41FA5}">
                      <a16:colId xmlns:a16="http://schemas.microsoft.com/office/drawing/2014/main" val="3687543556"/>
                    </a:ext>
                  </a:extLst>
                </a:gridCol>
              </a:tblGrid>
              <a:tr h="2404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Ref. No.</a:t>
                      </a:r>
                    </a:p>
                  </a:txBody>
                  <a:tcPr marL="72131" marR="72131" marT="36066" marB="360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Authors</a:t>
                      </a:r>
                    </a:p>
                  </a:txBody>
                  <a:tcPr marL="72131" marR="72131" marT="36066" marB="360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Title</a:t>
                      </a:r>
                    </a:p>
                  </a:txBody>
                  <a:tcPr marL="72131" marR="72131" marT="36066" marB="360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Publication</a:t>
                      </a:r>
                    </a:p>
                  </a:txBody>
                  <a:tcPr marL="72131" marR="72131" marT="36066" marB="360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Year</a:t>
                      </a:r>
                    </a:p>
                  </a:txBody>
                  <a:tcPr marL="72131" marR="72131" marT="36066" marB="360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8646167"/>
                  </a:ext>
                </a:extLst>
              </a:tr>
              <a:tr h="7453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[1]</a:t>
                      </a:r>
                    </a:p>
                  </a:txBody>
                  <a:tcPr marL="72131" marR="72131" marT="36066" marB="360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A. Verma, S. Iyer</a:t>
                      </a:r>
                    </a:p>
                  </a:txBody>
                  <a:tcPr marL="72131" marR="72131" marT="36066" marB="360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Automated timetable generation using constraint-based scheduling</a:t>
                      </a:r>
                    </a:p>
                  </a:txBody>
                  <a:tcPr marL="72131" marR="72131" marT="36066" marB="360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IEEE Access</a:t>
                      </a:r>
                    </a:p>
                  </a:txBody>
                  <a:tcPr marL="72131" marR="72131" marT="36066" marB="360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2023</a:t>
                      </a:r>
                    </a:p>
                  </a:txBody>
                  <a:tcPr marL="72131" marR="72131" marT="36066" marB="360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3971308"/>
                  </a:ext>
                </a:extLst>
              </a:tr>
              <a:tr h="7453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[2]</a:t>
                      </a:r>
                    </a:p>
                  </a:txBody>
                  <a:tcPr marL="72131" marR="72131" marT="36066" marB="360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v-SE" sz="1100"/>
                        <a:t>R. Kumar, P. Singh, M. Joshi</a:t>
                      </a:r>
                    </a:p>
                  </a:txBody>
                  <a:tcPr marL="72131" marR="72131" marT="36066" marB="360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Smart classroom management systems: Design and implementation</a:t>
                      </a:r>
                    </a:p>
                  </a:txBody>
                  <a:tcPr marL="72131" marR="72131" marT="36066" marB="360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IEEE Transactions on Education</a:t>
                      </a:r>
                    </a:p>
                  </a:txBody>
                  <a:tcPr marL="72131" marR="72131" marT="36066" marB="360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2022</a:t>
                      </a:r>
                    </a:p>
                  </a:txBody>
                  <a:tcPr marL="72131" marR="72131" marT="36066" marB="360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788225"/>
                  </a:ext>
                </a:extLst>
              </a:tr>
              <a:tr h="5770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[3]</a:t>
                      </a:r>
                    </a:p>
                  </a:txBody>
                  <a:tcPr marL="72131" marR="72131" marT="36066" marB="360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S. Gupta, N. Mehta</a:t>
                      </a:r>
                    </a:p>
                  </a:txBody>
                  <a:tcPr marL="72131" marR="72131" marT="36066" marB="360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Optimization techniques for classroom allocation and faculty scheduling</a:t>
                      </a:r>
                    </a:p>
                  </a:txBody>
                  <a:tcPr marL="72131" marR="72131" marT="36066" marB="360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IEEE Access</a:t>
                      </a:r>
                    </a:p>
                  </a:txBody>
                  <a:tcPr marL="72131" marR="72131" marT="36066" marB="360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2022</a:t>
                      </a:r>
                    </a:p>
                  </a:txBody>
                  <a:tcPr marL="72131" marR="72131" marT="36066" marB="360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861746"/>
                  </a:ext>
                </a:extLst>
              </a:tr>
              <a:tr h="5770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[4]</a:t>
                      </a:r>
                    </a:p>
                  </a:txBody>
                  <a:tcPr marL="72131" marR="72131" marT="36066" marB="360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100"/>
                        <a:t>J. Fernandes, P. Silva, R. Costa</a:t>
                      </a:r>
                    </a:p>
                  </a:txBody>
                  <a:tcPr marL="72131" marR="72131" marT="36066" marB="360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A comparative study of university course timetabling approaches</a:t>
                      </a:r>
                    </a:p>
                  </a:txBody>
                  <a:tcPr marL="72131" marR="72131" marT="36066" marB="360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Proc. IEEE Int. Conf. on Learning Technologies</a:t>
                      </a:r>
                    </a:p>
                  </a:txBody>
                  <a:tcPr marL="72131" marR="72131" marT="36066" marB="360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2019</a:t>
                      </a:r>
                    </a:p>
                  </a:txBody>
                  <a:tcPr marL="72131" marR="72131" marT="36066" marB="360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027748"/>
                  </a:ext>
                </a:extLst>
              </a:tr>
              <a:tr h="5770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[5]</a:t>
                      </a:r>
                    </a:p>
                  </a:txBody>
                  <a:tcPr marL="72131" marR="72131" marT="36066" marB="360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M. Hassan, L. Chen</a:t>
                      </a:r>
                    </a:p>
                  </a:txBody>
                  <a:tcPr marL="72131" marR="72131" marT="36066" marB="360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Constraint satisfaction methods for automated course timetabling</a:t>
                      </a:r>
                    </a:p>
                  </a:txBody>
                  <a:tcPr marL="72131" marR="72131" marT="36066" marB="360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IEEE Trans. on Systems, Man, and Cybernetics: Systems</a:t>
                      </a:r>
                    </a:p>
                  </a:txBody>
                  <a:tcPr marL="72131" marR="72131" marT="36066" marB="360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2020</a:t>
                      </a:r>
                    </a:p>
                  </a:txBody>
                  <a:tcPr marL="72131" marR="72131" marT="36066" marB="360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6673884"/>
                  </a:ext>
                </a:extLst>
              </a:tr>
              <a:tr h="7453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[6]</a:t>
                      </a:r>
                    </a:p>
                  </a:txBody>
                  <a:tcPr marL="72131" marR="72131" marT="36066" marB="360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T. Nguyen, H. Pham</a:t>
                      </a:r>
                    </a:p>
                  </a:txBody>
                  <a:tcPr marL="72131" marR="72131" marT="36066" marB="360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Efficient classroom utilization using automated scheduling algorithms</a:t>
                      </a:r>
                    </a:p>
                  </a:txBody>
                  <a:tcPr marL="72131" marR="72131" marT="36066" marB="360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IEEE Access</a:t>
                      </a:r>
                    </a:p>
                  </a:txBody>
                  <a:tcPr marL="72131" marR="72131" marT="36066" marB="360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2021</a:t>
                      </a:r>
                    </a:p>
                  </a:txBody>
                  <a:tcPr marL="72131" marR="72131" marT="36066" marB="360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2140247"/>
                  </a:ext>
                </a:extLst>
              </a:tr>
              <a:tr h="7453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[7]</a:t>
                      </a:r>
                    </a:p>
                  </a:txBody>
                  <a:tcPr marL="72131" marR="72131" marT="36066" marB="360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A. Choudhury, P. Banerjee</a:t>
                      </a:r>
                    </a:p>
                  </a:txBody>
                  <a:tcPr marL="72131" marR="72131" marT="36066" marB="360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Design of scalable timetable management systems for universities</a:t>
                      </a:r>
                    </a:p>
                  </a:txBody>
                  <a:tcPr marL="72131" marR="72131" marT="36066" marB="360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Proc. IEEE Int. Conf. on Advances in Computing, Communication and Control</a:t>
                      </a:r>
                    </a:p>
                  </a:txBody>
                  <a:tcPr marL="72131" marR="72131" marT="36066" marB="360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2020</a:t>
                      </a:r>
                    </a:p>
                  </a:txBody>
                  <a:tcPr marL="72131" marR="72131" marT="36066" marB="360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79605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12425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480</TotalTime>
  <Words>1434</Words>
  <Application>Microsoft Office PowerPoint</Application>
  <PresentationFormat>Widescreen</PresentationFormat>
  <Paragraphs>200</Paragraphs>
  <Slides>14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Calibra</vt:lpstr>
      <vt:lpstr>Calibri</vt:lpstr>
      <vt:lpstr>Cambria</vt:lpstr>
      <vt:lpstr>Verdana</vt:lpstr>
      <vt:lpstr>Wingdings</vt:lpstr>
      <vt:lpstr>Bioinformatics</vt:lpstr>
      <vt:lpstr>SMART CLASSROOM AND TIME TABLE SCHEDULER </vt:lpstr>
      <vt:lpstr>Problem Statement Number: SIH25028</vt:lpstr>
      <vt:lpstr>Content</vt:lpstr>
      <vt:lpstr>Content (continuation)..</vt:lpstr>
      <vt:lpstr>Background and Related Work</vt:lpstr>
      <vt:lpstr>Technology Stack Components</vt:lpstr>
      <vt:lpstr>PowerPoint Presentation</vt:lpstr>
      <vt:lpstr>Github Link</vt:lpstr>
      <vt:lpstr>Requirements </vt:lpstr>
      <vt:lpstr>Analysis of Problem Statement </vt:lpstr>
      <vt:lpstr>Timeline of the Project (Gantt Chart)</vt:lpstr>
      <vt:lpstr>References (IEEE Paper format)</vt:lpstr>
      <vt:lpstr>Literature Review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Bhargavi K</cp:lastModifiedBy>
  <cp:revision>42</cp:revision>
  <dcterms:modified xsi:type="dcterms:W3CDTF">2026-04-14T09:31:04Z</dcterms:modified>
</cp:coreProperties>
</file>